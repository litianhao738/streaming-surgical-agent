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C8BB10-7741-8A51-19E1-283C869A5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8B187A-2726-2809-B8AB-B43023E6B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3786E2-37CE-2E95-6EB4-7904A13B5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947A5-2359-9C96-9B0A-5413FE901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DEE1F-9CED-AF11-30B4-9A4FC44B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91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75872-26D0-8747-53DD-89C0D698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AF495E-B585-121A-F9BA-0EF9798C4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49C448-A5C2-6A7D-8AE4-7187E1D4F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B8EAD2-C9B1-50B2-E91E-46C599828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F89F00-DCB7-B9D6-253B-803BEBBD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103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12806-FC1B-66B7-87CF-023102E98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A34D0-8E18-003B-E0E8-4E13F3261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96B6E1-3B0D-F905-7669-E92F96345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39772-335E-4B28-1156-735B74345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8C195A-4FFB-D12A-204B-D48D3768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450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339EB-A61D-796D-13B8-A1A300E3D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521147-2378-AA9A-77CC-EF595562C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285EDD-DA01-3109-94D6-CF7AE30C9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29C34-3EF4-431D-7BD4-CA519CCD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86E2AA-37F8-6B13-C155-43A7B2E2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ED2A78-F2D0-6C44-943B-1169C407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1616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8C7FE-1AB9-106F-080E-5BEFA386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FEA92A-895E-0DD9-DBF7-0B0C4092C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760EB8-9196-0090-0DF0-2E677D3F4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DA06DF-F995-6236-88E1-8DCABB90E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5D22885-6F5B-8B22-C973-5EE99B164F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F07F45A-A2E1-C1BD-87F5-E4A9E8FD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A9EBCA-526E-5510-4E19-4A694D48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814CB6-4D97-51D6-637C-643ED532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01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9729F-100B-4DC4-34E4-1A70E477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1C8DC3-D459-B28A-C7DF-18BC57AA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F67F5E-7090-4870-CECD-672129991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5BC8BE-02C6-BEF3-0721-54463A43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31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136EF7-C7BE-2360-1EE0-7E428C4FA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9C2B77-2EE5-1B19-F69B-35F014C4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0398F-3C91-07D1-5226-F6B61D2B8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27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13759B-0A30-3BF3-E026-73404C53C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0DC5B2-32C3-37DF-6FF7-8A1EB0258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5E1BC9-DE5A-533E-D43A-46A1AB819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8296E9-FB11-7730-BEC9-C4BF51DC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4812E9-6E58-D336-2F9B-7CD6ED1E8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1E567D-6814-3FC6-D748-7621D6CBC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06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BD51E7-974E-4CBC-7AAE-42AFD0AF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BF9CA6-369F-E554-79F3-7D43BAB0C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694308-9E81-3C1B-5534-3D5B4B24D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FA84D6-960E-CFFD-A53B-BE481316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EF4872-CBFB-C1CA-2532-DB35A2459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63BF8C-71E2-AD36-B269-70D832B5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31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A2E5B-C9EC-8C61-10CA-357F378B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06FC4D-F6F5-220A-09BB-6952F2EDC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3EDC6C-7CB3-9096-0BA6-2E34B1AC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F1933-2A8B-53E2-5064-585903122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38D7E-B9CC-56C7-B0CC-3D2E294DB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7843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9437AD-7D13-4853-4E61-1767A45FA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019033-918F-5DEF-D53F-B5395D9EC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9A933C-F010-F938-58C2-8880CF54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DF1939-2F71-35F6-9F9E-3357F1537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7F215E-6F7B-7DA9-F004-84C2F992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3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AFAC82-1A5A-D02F-E645-AA6FA6A60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F1FD0E-9E59-7A64-0960-23CD5DDB6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537FD5-7A8A-B6BE-491A-1D5DFDD4D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69F0E-B466-4EA8-A15B-227E8AB83F43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C033E9-15E1-74F5-F885-BFB970151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77E806-A1A4-7009-72FC-A7ABEE6BA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DC28A-1FE5-49EE-AEEF-BC85CF1167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5671E7F-528E-5EF3-2713-DEC455AA6696}"/>
              </a:ext>
            </a:extLst>
          </p:cNvPr>
          <p:cNvCxnSpPr/>
          <p:nvPr/>
        </p:nvCxnSpPr>
        <p:spPr>
          <a:xfrm>
            <a:off x="2349500" y="2273300"/>
            <a:ext cx="0" cy="406400"/>
          </a:xfrm>
          <a:prstGeom prst="line">
            <a:avLst/>
          </a:prstGeom>
          <a:ln w="17145">
            <a:solidFill>
              <a:srgbClr val="7079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42C59D6-8412-66E4-203B-72490BC4383D}"/>
              </a:ext>
            </a:extLst>
          </p:cNvPr>
          <p:cNvCxnSpPr/>
          <p:nvPr/>
        </p:nvCxnSpPr>
        <p:spPr>
          <a:xfrm>
            <a:off x="2349500" y="3238500"/>
            <a:ext cx="0" cy="406400"/>
          </a:xfrm>
          <a:prstGeom prst="line">
            <a:avLst/>
          </a:prstGeom>
          <a:ln w="17145">
            <a:solidFill>
              <a:srgbClr val="7079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0442A1D-152B-74B8-151D-8B42B2856ACC}"/>
              </a:ext>
            </a:extLst>
          </p:cNvPr>
          <p:cNvCxnSpPr/>
          <p:nvPr/>
        </p:nvCxnSpPr>
        <p:spPr>
          <a:xfrm>
            <a:off x="2349500" y="4305300"/>
            <a:ext cx="0" cy="457200"/>
          </a:xfrm>
          <a:prstGeom prst="line">
            <a:avLst/>
          </a:prstGeom>
          <a:ln w="17145">
            <a:solidFill>
              <a:srgbClr val="7079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1479824-984F-C7EE-5663-D21368A2F539}"/>
              </a:ext>
            </a:extLst>
          </p:cNvPr>
          <p:cNvCxnSpPr/>
          <p:nvPr/>
        </p:nvCxnSpPr>
        <p:spPr>
          <a:xfrm>
            <a:off x="8572500" y="2133600"/>
            <a:ext cx="0" cy="254000"/>
          </a:xfrm>
          <a:prstGeom prst="line">
            <a:avLst/>
          </a:prstGeom>
          <a:ln w="17145">
            <a:solidFill>
              <a:srgbClr val="7079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A6F45F5-D7B7-C684-762A-FF09049D6469}"/>
              </a:ext>
            </a:extLst>
          </p:cNvPr>
          <p:cNvCxnSpPr/>
          <p:nvPr/>
        </p:nvCxnSpPr>
        <p:spPr>
          <a:xfrm>
            <a:off x="8572500" y="2971800"/>
            <a:ext cx="0" cy="254000"/>
          </a:xfrm>
          <a:prstGeom prst="line">
            <a:avLst/>
          </a:prstGeom>
          <a:ln w="17145">
            <a:solidFill>
              <a:srgbClr val="70798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FF28BB1-5AE9-6431-E103-FBE59BEA2A7A}"/>
              </a:ext>
            </a:extLst>
          </p:cNvPr>
          <p:cNvCxnSpPr/>
          <p:nvPr/>
        </p:nvCxnSpPr>
        <p:spPr>
          <a:xfrm flipH="1">
            <a:off x="6502400" y="4013200"/>
            <a:ext cx="1371600" cy="431800"/>
          </a:xfrm>
          <a:prstGeom prst="line">
            <a:avLst/>
          </a:prstGeom>
          <a:ln w="19685">
            <a:solidFill>
              <a:srgbClr val="4395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274EC3-9D12-8208-F4A3-90886E8BD7DE}"/>
              </a:ext>
            </a:extLst>
          </p:cNvPr>
          <p:cNvCxnSpPr/>
          <p:nvPr/>
        </p:nvCxnSpPr>
        <p:spPr>
          <a:xfrm>
            <a:off x="6502400" y="4445000"/>
            <a:ext cx="800100" cy="622300"/>
          </a:xfrm>
          <a:prstGeom prst="line">
            <a:avLst/>
          </a:prstGeom>
          <a:ln w="19685">
            <a:solidFill>
              <a:srgbClr val="4395D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AB172ED-99B3-FDAF-BB40-21ACCD2EA3D3}"/>
              </a:ext>
            </a:extLst>
          </p:cNvPr>
          <p:cNvCxnSpPr/>
          <p:nvPr/>
        </p:nvCxnSpPr>
        <p:spPr>
          <a:xfrm>
            <a:off x="9842500" y="3657600"/>
            <a:ext cx="1054100" cy="393700"/>
          </a:xfrm>
          <a:prstGeom prst="line">
            <a:avLst/>
          </a:prstGeom>
          <a:ln w="21590">
            <a:solidFill>
              <a:srgbClr val="2780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557DB04-C6B6-EFC7-3AB5-7F2D8BD0104F}"/>
              </a:ext>
            </a:extLst>
          </p:cNvPr>
          <p:cNvCxnSpPr/>
          <p:nvPr/>
        </p:nvCxnSpPr>
        <p:spPr>
          <a:xfrm>
            <a:off x="10922000" y="4800600"/>
            <a:ext cx="0" cy="203200"/>
          </a:xfrm>
          <a:prstGeom prst="line">
            <a:avLst/>
          </a:prstGeom>
          <a:ln w="19685">
            <a:solidFill>
              <a:srgbClr val="2780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4E07329-FC47-B952-147B-882944FBC32F}"/>
              </a:ext>
            </a:extLst>
          </p:cNvPr>
          <p:cNvCxnSpPr/>
          <p:nvPr/>
        </p:nvCxnSpPr>
        <p:spPr>
          <a:xfrm flipH="1">
            <a:off x="9588500" y="5321300"/>
            <a:ext cx="190500" cy="76200"/>
          </a:xfrm>
          <a:prstGeom prst="line">
            <a:avLst/>
          </a:prstGeom>
          <a:ln w="19685">
            <a:solidFill>
              <a:srgbClr val="2780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3CDC826-CC6A-B176-9846-1BEECEB7B5AF}"/>
              </a:ext>
            </a:extLst>
          </p:cNvPr>
          <p:cNvCxnSpPr/>
          <p:nvPr/>
        </p:nvCxnSpPr>
        <p:spPr>
          <a:xfrm>
            <a:off x="8191500" y="5753100"/>
            <a:ext cx="0" cy="190500"/>
          </a:xfrm>
          <a:prstGeom prst="line">
            <a:avLst/>
          </a:prstGeom>
          <a:ln w="19685">
            <a:solidFill>
              <a:srgbClr val="2780C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516CA25-CCD4-FB62-D40E-E9196415D90D}"/>
              </a:ext>
            </a:extLst>
          </p:cNvPr>
          <p:cNvCxnSpPr/>
          <p:nvPr/>
        </p:nvCxnSpPr>
        <p:spPr>
          <a:xfrm flipH="1">
            <a:off x="5778500" y="6210300"/>
            <a:ext cx="952500" cy="0"/>
          </a:xfrm>
          <a:prstGeom prst="line">
            <a:avLst/>
          </a:prstGeom>
          <a:ln w="16510">
            <a:solidFill>
              <a:srgbClr val="5E99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58813B2-BBCC-D7A3-5D58-2581F26CD233}"/>
              </a:ext>
            </a:extLst>
          </p:cNvPr>
          <p:cNvCxnSpPr/>
          <p:nvPr/>
        </p:nvCxnSpPr>
        <p:spPr>
          <a:xfrm flipV="1">
            <a:off x="5778500" y="2679700"/>
            <a:ext cx="0" cy="3530600"/>
          </a:xfrm>
          <a:prstGeom prst="line">
            <a:avLst/>
          </a:prstGeom>
          <a:ln w="16510">
            <a:solidFill>
              <a:srgbClr val="5E99C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8C8403A-3FD2-1223-B176-BA661DC66077}"/>
              </a:ext>
            </a:extLst>
          </p:cNvPr>
          <p:cNvCxnSpPr/>
          <p:nvPr/>
        </p:nvCxnSpPr>
        <p:spPr>
          <a:xfrm>
            <a:off x="5778500" y="2679700"/>
            <a:ext cx="1143000" cy="0"/>
          </a:xfrm>
          <a:prstGeom prst="line">
            <a:avLst/>
          </a:prstGeom>
          <a:ln w="16510">
            <a:solidFill>
              <a:srgbClr val="5E99C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BADE0C3-1184-37FF-8916-ED23712A73C2}"/>
              </a:ext>
            </a:extLst>
          </p:cNvPr>
          <p:cNvSpPr/>
          <p:nvPr/>
        </p:nvSpPr>
        <p:spPr>
          <a:xfrm>
            <a:off x="5067300" y="1422400"/>
            <a:ext cx="15240" cy="5168900"/>
          </a:xfrm>
          <a:prstGeom prst="rect">
            <a:avLst/>
          </a:prstGeom>
          <a:solidFill>
            <a:srgbClr val="DADFE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64F8CF-4CCD-5B87-0749-1A56812573AF}"/>
              </a:ext>
            </a:extLst>
          </p:cNvPr>
          <p:cNvSpPr txBox="1"/>
          <p:nvPr/>
        </p:nvSpPr>
        <p:spPr>
          <a:xfrm>
            <a:off x="381000" y="236418"/>
            <a:ext cx="11430000" cy="397545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2250" b="1">
                <a:solidFill>
                  <a:srgbClr val="000000"/>
                </a:solidFill>
                <a:latin typeface="Arial" panose="020B0604020202020204" pitchFamily="34" charset="0"/>
              </a:rPr>
              <a:t>From Clip-Local Prediction to Stateful, Benefit-Routed Video Reasoning</a:t>
            </a:r>
            <a:endParaRPr lang="zh-CN" altLang="en-US" sz="225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B0C0A7E-8DE5-D847-C12B-53F29E41A8E5}"/>
              </a:ext>
            </a:extLst>
          </p:cNvPr>
          <p:cNvSpPr txBox="1"/>
          <p:nvPr/>
        </p:nvSpPr>
        <p:spPr>
          <a:xfrm>
            <a:off x="533400" y="934918"/>
            <a:ext cx="4000500" cy="297517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r>
              <a:rPr lang="en-US" altLang="zh-CN" sz="1600" b="1">
                <a:solidFill>
                  <a:srgbClr val="434A54"/>
                </a:solidFill>
                <a:latin typeface="Arial" panose="020B0604020202020204" pitchFamily="34" charset="0"/>
              </a:rPr>
              <a:t>PREVIOUS METHODS</a:t>
            </a:r>
            <a:endParaRPr lang="zh-CN" altLang="en-US" sz="1600" b="1">
              <a:solidFill>
                <a:srgbClr val="434A54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94921B-DCF8-905F-36D1-21E056B67151}"/>
              </a:ext>
            </a:extLst>
          </p:cNvPr>
          <p:cNvSpPr txBox="1"/>
          <p:nvPr/>
        </p:nvSpPr>
        <p:spPr>
          <a:xfrm>
            <a:off x="533400" y="1265118"/>
            <a:ext cx="4000500" cy="235962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r>
              <a:rPr lang="en-US" altLang="zh-CN" sz="1200">
                <a:solidFill>
                  <a:srgbClr val="5D6573"/>
                </a:solidFill>
                <a:latin typeface="Arial" panose="020B0604020202020204" pitchFamily="34" charset="0"/>
              </a:rPr>
              <a:t>Clip-local multi-task prediction</a:t>
            </a:r>
            <a:endParaRPr lang="zh-CN" altLang="en-US" sz="1200">
              <a:solidFill>
                <a:srgbClr val="5D6573"/>
              </a:solidFill>
              <a:latin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C3052F6-458C-BCEC-8825-D7E2C481D499}"/>
              </a:ext>
            </a:extLst>
          </p:cNvPr>
          <p:cNvSpPr txBox="1"/>
          <p:nvPr/>
        </p:nvSpPr>
        <p:spPr>
          <a:xfrm>
            <a:off x="6413500" y="934918"/>
            <a:ext cx="4699000" cy="297517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600" b="1">
                <a:solidFill>
                  <a:srgbClr val="155FA0"/>
                </a:solidFill>
                <a:latin typeface="Arial" panose="020B0604020202020204" pitchFamily="34" charset="0"/>
              </a:rPr>
              <a:t>OURS</a:t>
            </a:r>
            <a:endParaRPr lang="zh-CN" altLang="en-US" sz="1600" b="1">
              <a:solidFill>
                <a:srgbClr val="155FA0"/>
              </a:solidFill>
              <a:latin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6D330A-6948-0A71-C65C-27B2BDAC7F7C}"/>
              </a:ext>
            </a:extLst>
          </p:cNvPr>
          <p:cNvSpPr txBox="1"/>
          <p:nvPr/>
        </p:nvSpPr>
        <p:spPr>
          <a:xfrm>
            <a:off x="5969000" y="1265118"/>
            <a:ext cx="5588000" cy="235962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200">
                <a:solidFill>
                  <a:srgbClr val="2475AF"/>
                </a:solidFill>
                <a:latin typeface="Arial" panose="020B0604020202020204" pitchFamily="34" charset="0"/>
              </a:rPr>
              <a:t>Stateful long-video agent with sparsely routed specialists</a:t>
            </a:r>
            <a:endParaRPr lang="zh-CN" altLang="en-US" sz="1200">
              <a:solidFill>
                <a:srgbClr val="2475AF"/>
              </a:solidFill>
              <a:latin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5965697-D52A-809F-470C-B00975AB4709}"/>
              </a:ext>
            </a:extLst>
          </p:cNvPr>
          <p:cNvSpPr txBox="1"/>
          <p:nvPr/>
        </p:nvSpPr>
        <p:spPr>
          <a:xfrm>
            <a:off x="4572000" y="3411418"/>
            <a:ext cx="698500" cy="374461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zh-CN" altLang="en-US" sz="2100" b="1">
                <a:solidFill>
                  <a:srgbClr val="3D8DCE"/>
                </a:solidFill>
                <a:latin typeface="Arial" panose="020B0604020202020204" pitchFamily="34" charset="0"/>
              </a:rPr>
              <a:t>→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603DCF6-1047-2CD5-4AC7-20E9BE80D97C}"/>
              </a:ext>
            </a:extLst>
          </p:cNvPr>
          <p:cNvSpPr/>
          <p:nvPr/>
        </p:nvSpPr>
        <p:spPr>
          <a:xfrm>
            <a:off x="698500" y="1714500"/>
            <a:ext cx="3302000" cy="5588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3C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300">
                <a:solidFill>
                  <a:srgbClr val="14181D"/>
                </a:solidFill>
                <a:latin typeface="Arial" panose="020B0604020202020204" pitchFamily="34" charset="0"/>
              </a:rPr>
              <a:t>Frame / Short Clip</a:t>
            </a:r>
            <a:endParaRPr lang="zh-CN" altLang="en-US" sz="1300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F7FC0A02-32EC-0E34-D07D-F0989025103D}"/>
              </a:ext>
            </a:extLst>
          </p:cNvPr>
          <p:cNvSpPr/>
          <p:nvPr/>
        </p:nvSpPr>
        <p:spPr>
          <a:xfrm>
            <a:off x="698500" y="2679700"/>
            <a:ext cx="3302000" cy="5588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3C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300">
                <a:solidFill>
                  <a:srgbClr val="14181D"/>
                </a:solidFill>
                <a:latin typeface="Arial" panose="020B0604020202020204" pitchFamily="34" charset="0"/>
              </a:rPr>
              <a:t>Task Heads / Experts</a:t>
            </a:r>
            <a:endParaRPr lang="zh-CN" altLang="en-US" sz="1300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94D9719-0EF3-58E6-A179-DD6D6707CF00}"/>
              </a:ext>
            </a:extLst>
          </p:cNvPr>
          <p:cNvSpPr/>
          <p:nvPr/>
        </p:nvSpPr>
        <p:spPr>
          <a:xfrm>
            <a:off x="698500" y="3644900"/>
            <a:ext cx="3302000" cy="660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C3CA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250">
                <a:solidFill>
                  <a:srgbClr val="14181D"/>
                </a:solidFill>
                <a:latin typeface="Arial" panose="020B0604020202020204" pitchFamily="34" charset="0"/>
              </a:rPr>
              <a:t>Optional Consistency / Reflection</a:t>
            </a:r>
            <a:endParaRPr lang="zh-CN" altLang="en-US" sz="1250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7066A65-323F-4877-937F-2832C2886498}"/>
              </a:ext>
            </a:extLst>
          </p:cNvPr>
          <p:cNvSpPr/>
          <p:nvPr/>
        </p:nvSpPr>
        <p:spPr>
          <a:xfrm>
            <a:off x="698500" y="4762500"/>
            <a:ext cx="3302000" cy="584200"/>
          </a:xfrm>
          <a:prstGeom prst="roundRect">
            <a:avLst/>
          </a:prstGeom>
          <a:solidFill>
            <a:srgbClr val="E8EBEF"/>
          </a:solidFill>
          <a:ln w="17145">
            <a:solidFill>
              <a:srgbClr val="B4BC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300" b="1">
                <a:solidFill>
                  <a:srgbClr val="14181D"/>
                </a:solidFill>
                <a:latin typeface="Arial" panose="020B0604020202020204" pitchFamily="34" charset="0"/>
              </a:rPr>
              <a:t>Sample-Local Prediction</a:t>
            </a:r>
            <a:endParaRPr lang="zh-CN" altLang="en-US" sz="130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EEB7618-CCE1-3DB9-A2F5-B10B2B9021F3}"/>
              </a:ext>
            </a:extLst>
          </p:cNvPr>
          <p:cNvSpPr/>
          <p:nvPr/>
        </p:nvSpPr>
        <p:spPr>
          <a:xfrm>
            <a:off x="838200" y="5715000"/>
            <a:ext cx="3022600" cy="355600"/>
          </a:xfrm>
          <a:prstGeom prst="rect">
            <a:avLst/>
          </a:prstGeom>
          <a:solidFill>
            <a:srgbClr val="EDF0F4"/>
          </a:solidFill>
          <a:ln w="10160">
            <a:solidFill>
              <a:srgbClr val="D3D7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250">
                <a:solidFill>
                  <a:srgbClr val="525A66"/>
                </a:solidFill>
                <a:latin typeface="Arial" panose="020B0604020202020204" pitchFamily="34" charset="0"/>
              </a:rPr>
              <a:t>Predominantly clip-local state</a:t>
            </a:r>
            <a:endParaRPr lang="zh-CN" altLang="en-US" sz="1250">
              <a:solidFill>
                <a:srgbClr val="525A66"/>
              </a:solidFill>
              <a:latin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C020EC-040C-B360-DFC3-98BB40BEDFD3}"/>
              </a:ext>
            </a:extLst>
          </p:cNvPr>
          <p:cNvSpPr/>
          <p:nvPr/>
        </p:nvSpPr>
        <p:spPr>
          <a:xfrm>
            <a:off x="838200" y="6134100"/>
            <a:ext cx="3022600" cy="355600"/>
          </a:xfrm>
          <a:prstGeom prst="rect">
            <a:avLst/>
          </a:prstGeom>
          <a:solidFill>
            <a:srgbClr val="EDF0F4"/>
          </a:solidFill>
          <a:ln w="10160">
            <a:solidFill>
              <a:srgbClr val="D3D7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250">
                <a:solidFill>
                  <a:srgbClr val="525A66"/>
                </a:solidFill>
                <a:latin typeface="Arial" panose="020B0604020202020204" pitchFamily="34" charset="0"/>
              </a:rPr>
              <a:t>Limited joint scope / budget routing</a:t>
            </a:r>
            <a:endParaRPr lang="zh-CN" altLang="en-US" sz="1250">
              <a:solidFill>
                <a:srgbClr val="525A66"/>
              </a:solidFill>
              <a:latin typeface="Arial" panose="020B0604020202020204" pitchFamily="34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F8E25C5-F5E8-9544-A8EB-7EEF22BB9D42}"/>
              </a:ext>
            </a:extLst>
          </p:cNvPr>
          <p:cNvSpPr/>
          <p:nvPr/>
        </p:nvSpPr>
        <p:spPr>
          <a:xfrm>
            <a:off x="7112000" y="1625600"/>
            <a:ext cx="2921000" cy="5080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80B7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300">
                <a:solidFill>
                  <a:srgbClr val="14181D"/>
                </a:solidFill>
                <a:latin typeface="Arial" panose="020B0604020202020204" pitchFamily="34" charset="0"/>
              </a:rPr>
              <a:t>Causal Surgical Stream</a:t>
            </a:r>
            <a:endParaRPr lang="zh-CN" altLang="en-US" sz="1300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6673CE7-6384-7927-3661-6FC274A0747B}"/>
              </a:ext>
            </a:extLst>
          </p:cNvPr>
          <p:cNvSpPr/>
          <p:nvPr/>
        </p:nvSpPr>
        <p:spPr>
          <a:xfrm>
            <a:off x="6921500" y="2387600"/>
            <a:ext cx="3302000" cy="584200"/>
          </a:xfrm>
          <a:prstGeom prst="roundRect">
            <a:avLst/>
          </a:prstGeom>
          <a:solidFill>
            <a:srgbClr val="E7F3FE"/>
          </a:solidFill>
          <a:ln w="17145">
            <a:solidFill>
              <a:srgbClr val="5D9F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300" b="1">
                <a:solidFill>
                  <a:srgbClr val="14181D"/>
                </a:solidFill>
                <a:latin typeface="Arial" panose="020B0604020202020204" pitchFamily="34" charset="0"/>
              </a:rPr>
              <a:t>Joint Perception Agent</a:t>
            </a:r>
            <a:endParaRPr lang="zh-CN" altLang="en-US" sz="130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1" name="菱形 30">
            <a:extLst>
              <a:ext uri="{FF2B5EF4-FFF2-40B4-BE49-F238E27FC236}">
                <a16:creationId xmlns:a16="http://schemas.microsoft.com/office/drawing/2014/main" id="{84812384-5BB2-057A-5BB5-FBB0832EDC3F}"/>
              </a:ext>
            </a:extLst>
          </p:cNvPr>
          <p:cNvSpPr/>
          <p:nvPr/>
        </p:nvSpPr>
        <p:spPr>
          <a:xfrm>
            <a:off x="7302500" y="3225800"/>
            <a:ext cx="2540000" cy="914400"/>
          </a:xfrm>
          <a:prstGeom prst="diamond">
            <a:avLst/>
          </a:prstGeom>
          <a:solidFill>
            <a:srgbClr val="CFE8FC"/>
          </a:solidFill>
          <a:ln w="19050">
            <a:solidFill>
              <a:srgbClr val="3D8DC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300" b="1">
                <a:solidFill>
                  <a:srgbClr val="14181D"/>
                </a:solidFill>
                <a:latin typeface="Arial" panose="020B0604020202020204" pitchFamily="34" charset="0"/>
              </a:rPr>
              <a:t>Task-Wise</a:t>
            </a:r>
          </a:p>
          <a:p>
            <a:pPr algn="ctr"/>
            <a:r>
              <a:rPr lang="en-US" altLang="zh-CN" sz="1300" b="1">
                <a:solidFill>
                  <a:srgbClr val="14181D"/>
                </a:solidFill>
                <a:latin typeface="Arial" panose="020B0604020202020204" pitchFamily="34" charset="0"/>
              </a:rPr>
              <a:t>Benefit Gate</a:t>
            </a:r>
            <a:endParaRPr lang="zh-CN" altLang="en-US" sz="130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D2D5BC5-BE87-FDF3-09B1-7CEED1506054}"/>
              </a:ext>
            </a:extLst>
          </p:cNvPr>
          <p:cNvSpPr txBox="1"/>
          <p:nvPr/>
        </p:nvSpPr>
        <p:spPr>
          <a:xfrm>
            <a:off x="5969000" y="4224218"/>
            <a:ext cx="1143000" cy="235962"/>
          </a:xfrm>
          <a:prstGeom prst="rect">
            <a:avLst/>
          </a:prstGeom>
          <a:solidFill>
            <a:srgbClr val="FFFFFF"/>
          </a:solidFill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200" b="1">
                <a:solidFill>
                  <a:srgbClr val="2A76AA"/>
                </a:solidFill>
                <a:latin typeface="Arial" panose="020B0604020202020204" pitchFamily="34" charset="0"/>
              </a:rPr>
              <a:t>ACCEPT</a:t>
            </a:r>
            <a:endParaRPr lang="zh-CN" altLang="en-US" sz="1200" b="1">
              <a:solidFill>
                <a:srgbClr val="2A76AA"/>
              </a:solidFill>
              <a:latin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A5AAA1E-20A8-A4B1-F977-CEA4FEA97559}"/>
              </a:ext>
            </a:extLst>
          </p:cNvPr>
          <p:cNvSpPr txBox="1"/>
          <p:nvPr/>
        </p:nvSpPr>
        <p:spPr>
          <a:xfrm>
            <a:off x="9982200" y="3652718"/>
            <a:ext cx="1803400" cy="235962"/>
          </a:xfrm>
          <a:prstGeom prst="rect">
            <a:avLst/>
          </a:prstGeom>
          <a:solidFill>
            <a:srgbClr val="FFFFFF"/>
          </a:solidFill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200" b="1">
                <a:solidFill>
                  <a:srgbClr val="2780C1"/>
                </a:solidFill>
                <a:latin typeface="Arial" panose="020B0604020202020204" pitchFamily="34" charset="0"/>
              </a:rPr>
              <a:t>VERIFY(scope)</a:t>
            </a:r>
            <a:endParaRPr lang="zh-CN" altLang="en-US" sz="1200" b="1">
              <a:solidFill>
                <a:srgbClr val="2780C1"/>
              </a:solidFill>
              <a:latin typeface="Arial" panose="020B0604020202020204" pitchFamily="34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72F4D489-8EDC-C133-63FC-A85FB33A26D3}"/>
              </a:ext>
            </a:extLst>
          </p:cNvPr>
          <p:cNvSpPr/>
          <p:nvPr/>
        </p:nvSpPr>
        <p:spPr>
          <a:xfrm>
            <a:off x="9779000" y="4051300"/>
            <a:ext cx="2286000" cy="749300"/>
          </a:xfrm>
          <a:prstGeom prst="roundRect">
            <a:avLst/>
          </a:prstGeom>
          <a:solidFill>
            <a:srgbClr val="DDF0FD"/>
          </a:solidFill>
          <a:ln w="17145">
            <a:solidFill>
              <a:srgbClr val="4A9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200" b="1">
                <a:solidFill>
                  <a:srgbClr val="14181D"/>
                </a:solidFill>
                <a:latin typeface="Arial" panose="020B0604020202020204" pitchFamily="34" charset="0"/>
              </a:rPr>
              <a:t>One Routed Specialist</a:t>
            </a:r>
          </a:p>
          <a:p>
            <a:pPr algn="ctr"/>
            <a:r>
              <a:rPr lang="en-US" altLang="zh-CN" sz="1200" b="1">
                <a:solidFill>
                  <a:srgbClr val="14181D"/>
                </a:solidFill>
                <a:latin typeface="Arial" panose="020B0604020202020204" pitchFamily="34" charset="0"/>
              </a:rPr>
              <a:t>Spatial/Track | Interaction</a:t>
            </a:r>
          </a:p>
          <a:p>
            <a:pPr algn="ctr"/>
            <a:r>
              <a:rPr lang="en-US" altLang="zh-CN" sz="1200" b="1">
                <a:solidFill>
                  <a:srgbClr val="14181D"/>
                </a:solidFill>
                <a:latin typeface="Arial" panose="020B0604020202020204" pitchFamily="34" charset="0"/>
              </a:rPr>
              <a:t>Workflow</a:t>
            </a:r>
            <a:endParaRPr lang="zh-CN" altLang="en-US" sz="120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DB39713-3791-49AB-4986-5FF1C07B0590}"/>
              </a:ext>
            </a:extLst>
          </p:cNvPr>
          <p:cNvSpPr/>
          <p:nvPr/>
        </p:nvSpPr>
        <p:spPr>
          <a:xfrm>
            <a:off x="9779000" y="5003800"/>
            <a:ext cx="2286000" cy="6477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AA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250" b="1">
                <a:solidFill>
                  <a:srgbClr val="14181D"/>
                </a:solidFill>
                <a:latin typeface="Arial" panose="020B0604020202020204" pitchFamily="34" charset="0"/>
              </a:rPr>
              <a:t>Constrained Deterministic</a:t>
            </a:r>
          </a:p>
          <a:p>
            <a:pPr algn="ctr"/>
            <a:r>
              <a:rPr lang="en-US" altLang="zh-CN" sz="1250" b="1">
                <a:solidFill>
                  <a:srgbClr val="14181D"/>
                </a:solidFill>
                <a:latin typeface="Arial" panose="020B0604020202020204" pitchFamily="34" charset="0"/>
              </a:rPr>
              <a:t>Write-Back</a:t>
            </a:r>
            <a:endParaRPr lang="zh-CN" altLang="en-US" sz="12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C1F6DEF-B013-84E4-71D9-95432858A403}"/>
              </a:ext>
            </a:extLst>
          </p:cNvPr>
          <p:cNvSpPr/>
          <p:nvPr/>
        </p:nvSpPr>
        <p:spPr>
          <a:xfrm>
            <a:off x="6794500" y="5067300"/>
            <a:ext cx="2794000" cy="685800"/>
          </a:xfrm>
          <a:prstGeom prst="roundRect">
            <a:avLst/>
          </a:prstGeom>
          <a:solidFill>
            <a:srgbClr val="BDE2FA"/>
          </a:solidFill>
          <a:ln w="17145">
            <a:solidFill>
              <a:srgbClr val="3183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250" b="1">
                <a:solidFill>
                  <a:srgbClr val="14181D"/>
                </a:solidFill>
                <a:latin typeface="Arial" panose="020B0604020202020204" pitchFamily="34" charset="0"/>
              </a:rPr>
              <a:t>Validated Structured Output</a:t>
            </a:r>
          </a:p>
          <a:p>
            <a:pPr algn="ctr"/>
            <a:r>
              <a:rPr lang="en-US" altLang="zh-CN" sz="1250" b="1">
                <a:solidFill>
                  <a:srgbClr val="14181D"/>
                </a:solidFill>
                <a:latin typeface="Arial" panose="020B0604020202020204" pitchFamily="34" charset="0"/>
              </a:rPr>
              <a:t>I / V / T / IVT / Phase</a:t>
            </a:r>
            <a:endParaRPr lang="zh-CN" altLang="en-US" sz="125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6097742-8CB7-D6D6-A0F7-A67F028A3DBF}"/>
              </a:ext>
            </a:extLst>
          </p:cNvPr>
          <p:cNvSpPr/>
          <p:nvPr/>
        </p:nvSpPr>
        <p:spPr>
          <a:xfrm>
            <a:off x="6731000" y="5943600"/>
            <a:ext cx="3302000" cy="533400"/>
          </a:xfrm>
          <a:prstGeom prst="roundRect">
            <a:avLst/>
          </a:prstGeom>
          <a:solidFill>
            <a:srgbClr val="EAF6FE"/>
          </a:solidFill>
          <a:ln w="17145">
            <a:solidFill>
              <a:srgbClr val="61A4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3500" tIns="25400" rIns="63500" bIns="25400" rtlCol="0" anchor="ctr"/>
          <a:lstStyle/>
          <a:p>
            <a:pPr algn="ctr"/>
            <a:r>
              <a:rPr lang="en-US" altLang="zh-CN" sz="1200" b="1">
                <a:solidFill>
                  <a:srgbClr val="14181D"/>
                </a:solidFill>
                <a:latin typeface="Arial" panose="020B0604020202020204" pitchFamily="34" charset="0"/>
              </a:rPr>
              <a:t>Finalized Event</a:t>
            </a:r>
          </a:p>
          <a:p>
            <a:pPr algn="ctr"/>
            <a:r>
              <a:rPr lang="en-US" altLang="zh-CN" sz="1200" b="1">
                <a:solidFill>
                  <a:srgbClr val="14181D"/>
                </a:solidFill>
                <a:latin typeface="Arial" panose="020B0604020202020204" pitchFamily="34" charset="0"/>
              </a:rPr>
              <a:t>Workflow State + Event Memory</a:t>
            </a:r>
            <a:endParaRPr lang="zh-CN" altLang="en-US" sz="1200" b="1">
              <a:solidFill>
                <a:srgbClr val="14181D"/>
              </a:solidFill>
              <a:latin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F629F1D-BC5B-BB58-A04F-0ADF13563A9A}"/>
              </a:ext>
            </a:extLst>
          </p:cNvPr>
          <p:cNvSpPr txBox="1"/>
          <p:nvPr/>
        </p:nvSpPr>
        <p:spPr>
          <a:xfrm>
            <a:off x="5181600" y="3665418"/>
            <a:ext cx="1600200" cy="420628"/>
          </a:xfrm>
          <a:prstGeom prst="rect">
            <a:avLst/>
          </a:prstGeom>
          <a:solidFill>
            <a:srgbClr val="FFFFFF"/>
          </a:solidFill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200">
                <a:solidFill>
                  <a:srgbClr val="48779A"/>
                </a:solidFill>
                <a:latin typeface="Arial" panose="020B0604020202020204" pitchFamily="34" charset="0"/>
              </a:rPr>
              <a:t>finalized context</a:t>
            </a:r>
          </a:p>
          <a:p>
            <a:pPr algn="ctr"/>
            <a:r>
              <a:rPr lang="en-US" altLang="zh-CN" sz="1200">
                <a:solidFill>
                  <a:srgbClr val="48779A"/>
                </a:solidFill>
                <a:latin typeface="Arial" panose="020B0604020202020204" pitchFamily="34" charset="0"/>
              </a:rPr>
              <a:t>for t+1</a:t>
            </a:r>
            <a:endParaRPr lang="zh-CN" altLang="en-US" sz="1200">
              <a:solidFill>
                <a:srgbClr val="48779A"/>
              </a:solidFill>
              <a:latin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168E1B8-2B8B-366E-CEB8-CD5FE98F974B}"/>
              </a:ext>
            </a:extLst>
          </p:cNvPr>
          <p:cNvSpPr txBox="1"/>
          <p:nvPr/>
        </p:nvSpPr>
        <p:spPr>
          <a:xfrm>
            <a:off x="5588000" y="6522918"/>
            <a:ext cx="6477000" cy="235962"/>
          </a:xfrm>
          <a:prstGeom prst="rect">
            <a:avLst/>
          </a:prstGeom>
          <a:noFill/>
        </p:spPr>
        <p:txBody>
          <a:bodyPr vert="horz" lIns="63500" tIns="25400" rIns="63500" bIns="25400" rtlCol="0" anchor="ctr">
            <a:spAutoFit/>
          </a:bodyPr>
          <a:lstStyle/>
          <a:p>
            <a:pPr algn="ctr"/>
            <a:r>
              <a:rPr lang="en-US" altLang="zh-CN" sz="1200" b="1">
                <a:solidFill>
                  <a:srgbClr val="155F91"/>
                </a:solidFill>
                <a:latin typeface="Arial" panose="020B0604020202020204" pitchFamily="34" charset="0"/>
              </a:rPr>
              <a:t>Persistent state | Selective verification | Scoped repair | Bounded verification cost</a:t>
            </a:r>
            <a:endParaRPr lang="zh-CN" altLang="en-US" sz="1200" b="1">
              <a:solidFill>
                <a:srgbClr val="155F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56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</Words>
  <Application>Microsoft Office PowerPoint</Application>
  <PresentationFormat>自定义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u3651281@connect.hku.hk</dc:creator>
  <cp:lastModifiedBy>u3651281@connect.hku.hk</cp:lastModifiedBy>
  <cp:revision>1</cp:revision>
  <dcterms:created xsi:type="dcterms:W3CDTF">2026-08-23T18:27:23Z</dcterms:created>
  <dcterms:modified xsi:type="dcterms:W3CDTF">2026-08-23T18:27:23Z</dcterms:modified>
</cp:coreProperties>
</file>