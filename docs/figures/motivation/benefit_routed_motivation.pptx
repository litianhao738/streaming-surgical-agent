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C062-5E77-4FA8-9EA6-713B8D14BC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67275-A765-4786-AD24-7C4045A7BB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C062-5E77-4FA8-9EA6-713B8D14BC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67275-A765-4786-AD24-7C4045A7BB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C062-5E77-4FA8-9EA6-713B8D14BC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67275-A765-4786-AD24-7C4045A7BB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C062-5E77-4FA8-9EA6-713B8D14BC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67275-A765-4786-AD24-7C4045A7BB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C062-5E77-4FA8-9EA6-713B8D14BC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67275-A765-4786-AD24-7C4045A7BB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C062-5E77-4FA8-9EA6-713B8D14BC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67275-A765-4786-AD24-7C4045A7BB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C062-5E77-4FA8-9EA6-713B8D14BC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67275-A765-4786-AD24-7C4045A7BB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C062-5E77-4FA8-9EA6-713B8D14BC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67275-A765-4786-AD24-7C4045A7BB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C062-5E77-4FA8-9EA6-713B8D14BC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67275-A765-4786-AD24-7C4045A7BB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C062-5E77-4FA8-9EA6-713B8D14BC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67275-A765-4786-AD24-7C4045A7BB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C062-5E77-4FA8-9EA6-713B8D14BC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67275-A765-4786-AD24-7C4045A7BB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94C062-5E77-4FA8-9EA6-713B8D14BC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367275-A765-4786-AD24-7C4045A7BB0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2032000" y="2235200"/>
            <a:ext cx="0" cy="558800"/>
          </a:xfrm>
          <a:prstGeom prst="line">
            <a:avLst/>
          </a:prstGeom>
          <a:ln w="15875">
            <a:solidFill>
              <a:srgbClr val="7780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2032000" y="3251200"/>
            <a:ext cx="0" cy="558800"/>
          </a:xfrm>
          <a:prstGeom prst="line">
            <a:avLst/>
          </a:prstGeom>
          <a:ln w="15875">
            <a:solidFill>
              <a:srgbClr val="7780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2032000" y="4419600"/>
            <a:ext cx="0" cy="533400"/>
          </a:xfrm>
          <a:prstGeom prst="line">
            <a:avLst/>
          </a:prstGeom>
          <a:ln w="15875">
            <a:solidFill>
              <a:srgbClr val="7780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8509000" y="2108200"/>
            <a:ext cx="0" cy="304800"/>
          </a:xfrm>
          <a:prstGeom prst="line">
            <a:avLst/>
          </a:prstGeom>
          <a:ln w="15875">
            <a:solidFill>
              <a:srgbClr val="7780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8509000" y="2921000"/>
            <a:ext cx="0" cy="254000"/>
          </a:xfrm>
          <a:prstGeom prst="line">
            <a:avLst/>
          </a:prstGeom>
          <a:ln w="15875">
            <a:solidFill>
              <a:srgbClr val="7780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>
            <a:off x="6731000" y="3810000"/>
            <a:ext cx="1143000" cy="508000"/>
          </a:xfrm>
          <a:prstGeom prst="line">
            <a:avLst/>
          </a:prstGeom>
          <a:ln w="17145">
            <a:solidFill>
              <a:srgbClr val="4395D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731000" y="4318000"/>
            <a:ext cx="1016000" cy="1143000"/>
          </a:xfrm>
          <a:prstGeom prst="line">
            <a:avLst/>
          </a:prstGeom>
          <a:ln w="17145">
            <a:solidFill>
              <a:srgbClr val="4395D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9525000" y="3556000"/>
            <a:ext cx="1397000" cy="444500"/>
          </a:xfrm>
          <a:prstGeom prst="line">
            <a:avLst/>
          </a:prstGeom>
          <a:ln w="20955">
            <a:solidFill>
              <a:srgbClr val="2780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0922000" y="4572000"/>
            <a:ext cx="0" cy="254000"/>
          </a:xfrm>
          <a:prstGeom prst="line">
            <a:avLst/>
          </a:prstGeom>
          <a:ln w="18415">
            <a:solidFill>
              <a:srgbClr val="2780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9588500" y="5397500"/>
            <a:ext cx="571500" cy="254000"/>
          </a:xfrm>
          <a:prstGeom prst="line">
            <a:avLst/>
          </a:prstGeom>
          <a:ln w="18415">
            <a:solidFill>
              <a:srgbClr val="2780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8509000" y="5994400"/>
            <a:ext cx="0" cy="165100"/>
          </a:xfrm>
          <a:prstGeom prst="line">
            <a:avLst/>
          </a:prstGeom>
          <a:ln w="18415">
            <a:solidFill>
              <a:srgbClr val="2780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5715000" y="6400800"/>
            <a:ext cx="1143000" cy="0"/>
          </a:xfrm>
          <a:prstGeom prst="line">
            <a:avLst/>
          </a:prstGeom>
          <a:ln w="15240">
            <a:solidFill>
              <a:srgbClr val="66A4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5715000" y="2603500"/>
            <a:ext cx="0" cy="3797300"/>
          </a:xfrm>
          <a:prstGeom prst="line">
            <a:avLst/>
          </a:prstGeom>
          <a:ln w="15240">
            <a:solidFill>
              <a:srgbClr val="66A4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715000" y="2603500"/>
            <a:ext cx="1524000" cy="0"/>
          </a:xfrm>
          <a:prstGeom prst="line">
            <a:avLst/>
          </a:prstGeom>
          <a:ln w="15240">
            <a:solidFill>
              <a:srgbClr val="66A4D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5067300" y="1600200"/>
            <a:ext cx="15240" cy="5054600"/>
          </a:xfrm>
          <a:prstGeom prst="rect">
            <a:avLst/>
          </a:prstGeom>
          <a:solidFill>
            <a:srgbClr val="DADF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81000" y="236418"/>
            <a:ext cx="11430000" cy="397545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pPr algn="ctr"/>
            <a:r>
              <a:rPr lang="en-US" altLang="zh-CN" sz="2250" b="1">
                <a:solidFill>
                  <a:srgbClr val="000000"/>
                </a:solidFill>
                <a:latin typeface="Arial" panose="020B0604020202020204" pitchFamily="34" charset="0"/>
              </a:rPr>
              <a:t>From Clip-level Recognition to Benefit-Routed Long-Video Reasoning</a:t>
            </a:r>
            <a:endParaRPr lang="zh-CN" altLang="en-US" sz="225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82600" y="1087318"/>
            <a:ext cx="4064000" cy="282129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altLang="zh-CN" sz="1500" b="1">
                <a:solidFill>
                  <a:srgbClr val="434A54"/>
                </a:solidFill>
                <a:latin typeface="Arial" panose="020B0604020202020204" pitchFamily="34" charset="0"/>
              </a:rPr>
              <a:t>PREVIOUS METHODS</a:t>
            </a:r>
            <a:endParaRPr lang="zh-CN" altLang="en-US" sz="1500" b="1">
              <a:solidFill>
                <a:srgbClr val="434A54"/>
              </a:solidFill>
              <a:latin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2600" y="1392118"/>
            <a:ext cx="4064000" cy="197490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altLang="zh-CN" sz="950">
                <a:solidFill>
                  <a:srgbClr val="5D6573"/>
                </a:solidFill>
                <a:latin typeface="Arial" panose="020B0604020202020204" pitchFamily="34" charset="0"/>
              </a:rPr>
              <a:t>Sample-wise clip understanding</a:t>
            </a:r>
            <a:endParaRPr lang="zh-CN" altLang="en-US" sz="950">
              <a:solidFill>
                <a:srgbClr val="5D6573"/>
              </a:solidFill>
              <a:latin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604000" y="1087318"/>
            <a:ext cx="4445000" cy="282129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pPr algn="ctr"/>
            <a:r>
              <a:rPr lang="en-US" altLang="zh-CN" sz="1500" b="1">
                <a:solidFill>
                  <a:srgbClr val="155FA0"/>
                </a:solidFill>
                <a:latin typeface="Arial" panose="020B0604020202020204" pitchFamily="34" charset="0"/>
              </a:rPr>
              <a:t>OURS</a:t>
            </a:r>
            <a:endParaRPr lang="zh-CN" altLang="en-US" sz="1500" b="1">
              <a:solidFill>
                <a:srgbClr val="155FA0"/>
              </a:solidFill>
              <a:latin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604000" y="1366718"/>
            <a:ext cx="4445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pPr algn="ctr"/>
            <a:r>
              <a:rPr lang="en-US" altLang="zh-CN" sz="900">
                <a:solidFill>
                  <a:srgbClr val="2475AF"/>
                </a:solidFill>
                <a:latin typeface="Arial" panose="020B0604020202020204" pitchFamily="34" charset="0"/>
              </a:rPr>
              <a:t>Stateful long-video surgical agents</a:t>
            </a:r>
            <a:endParaRPr lang="zh-CN" altLang="en-US" sz="900">
              <a:solidFill>
                <a:srgbClr val="2475AF"/>
              </a:solidFill>
              <a:latin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414520" y="3513455"/>
            <a:ext cx="1325880" cy="32766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spAutoFit/>
          </a:bodyPr>
          <a:lstStyle/>
          <a:p>
            <a:pPr algn="ctr"/>
            <a:r>
              <a:rPr lang="zh-CN" altLang="en-US" b="1">
                <a:solidFill>
                  <a:srgbClr val="3D8DCE"/>
                </a:solidFill>
                <a:latin typeface="Arial" panose="020B0604020202020204" pitchFamily="34" charset="0"/>
              </a:rPr>
              <a:t>→</a:t>
            </a:r>
            <a:endParaRPr lang="zh-CN" altLang="en-US" b="1">
              <a:solidFill>
                <a:srgbClr val="3D8DCE"/>
              </a:solidFill>
              <a:latin typeface="Arial" panose="020B0604020202020204" pitchFamily="34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571500" y="1778000"/>
            <a:ext cx="292100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7CD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zh-CN" sz="1200">
                <a:solidFill>
                  <a:srgbClr val="14181D"/>
                </a:solidFill>
                <a:latin typeface="Arial" panose="020B0604020202020204" pitchFamily="34" charset="0"/>
              </a:rPr>
              <a:t>Frame / Short Clip</a:t>
            </a:r>
            <a:endParaRPr lang="zh-CN" altLang="en-US" sz="1200">
              <a:solidFill>
                <a:srgbClr val="14181D"/>
              </a:solidFill>
              <a:latin typeface="Arial" panose="020B0604020202020204" pitchFamily="34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571500" y="2794000"/>
            <a:ext cx="292100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7CD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zh-CN" sz="1200">
                <a:solidFill>
                  <a:srgbClr val="14181D"/>
                </a:solidFill>
                <a:latin typeface="Arial" panose="020B0604020202020204" pitchFamily="34" charset="0"/>
              </a:rPr>
              <a:t>Task Heads / Experts</a:t>
            </a:r>
            <a:endParaRPr lang="zh-CN" altLang="en-US" sz="1200">
              <a:solidFill>
                <a:srgbClr val="14181D"/>
              </a:solidFill>
              <a:latin typeface="Arial" panose="020B0604020202020204" pitchFamily="34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571500" y="3810000"/>
            <a:ext cx="2921000" cy="609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7CD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zh-CN" sz="1150">
                <a:solidFill>
                  <a:srgbClr val="14181D"/>
                </a:solidFill>
                <a:latin typeface="Arial" panose="020B0604020202020204" pitchFamily="34" charset="0"/>
              </a:rPr>
              <a:t>Optional Consistency / Reflection</a:t>
            </a:r>
            <a:endParaRPr lang="zh-CN" altLang="en-US" sz="1150">
              <a:solidFill>
                <a:srgbClr val="14181D"/>
              </a:solidFill>
              <a:latin typeface="Arial" panose="020B0604020202020204" pitchFamily="34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571500" y="4953000"/>
            <a:ext cx="2921000" cy="482600"/>
          </a:xfrm>
          <a:prstGeom prst="roundRect">
            <a:avLst/>
          </a:prstGeom>
          <a:solidFill>
            <a:srgbClr val="E8EBEF"/>
          </a:solidFill>
          <a:ln w="15875">
            <a:solidFill>
              <a:srgbClr val="B7BE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zh-CN" sz="1150" b="1">
                <a:solidFill>
                  <a:srgbClr val="14181D"/>
                </a:solidFill>
                <a:latin typeface="Arial" panose="020B0604020202020204" pitchFamily="34" charset="0"/>
              </a:rPr>
              <a:t>Current-sample Output</a:t>
            </a:r>
            <a:endParaRPr lang="zh-CN" altLang="en-US" sz="1150" b="1">
              <a:solidFill>
                <a:srgbClr val="14181D"/>
              </a:solidFill>
              <a:latin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952500" y="5715000"/>
            <a:ext cx="2159000" cy="279400"/>
          </a:xfrm>
          <a:prstGeom prst="rect">
            <a:avLst/>
          </a:prstGeom>
          <a:solidFill>
            <a:srgbClr val="EEF0F3"/>
          </a:solidFill>
          <a:ln w="9525">
            <a:solidFill>
              <a:srgbClr val="D3D7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zh-CN" sz="850">
                <a:solidFill>
                  <a:srgbClr val="525A66"/>
                </a:solidFill>
                <a:latin typeface="Arial" panose="020B0604020202020204" pitchFamily="34" charset="0"/>
              </a:rPr>
              <a:t>Local temporal context</a:t>
            </a:r>
            <a:endParaRPr lang="zh-CN" altLang="en-US" sz="850">
              <a:solidFill>
                <a:srgbClr val="525A66"/>
              </a:solidFill>
              <a:latin typeface="Arial" panose="020B0604020202020204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952500" y="5994400"/>
            <a:ext cx="2159000" cy="279400"/>
          </a:xfrm>
          <a:prstGeom prst="rect">
            <a:avLst/>
          </a:prstGeom>
          <a:solidFill>
            <a:srgbClr val="EEF0F3"/>
          </a:solidFill>
          <a:ln w="9525">
            <a:solidFill>
              <a:srgbClr val="D3D7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zh-CN" sz="850">
                <a:solidFill>
                  <a:srgbClr val="525A66"/>
                </a:solidFill>
                <a:latin typeface="Arial" panose="020B0604020202020204" pitchFamily="34" charset="0"/>
              </a:rPr>
              <a:t>Independent sample processing</a:t>
            </a:r>
            <a:endParaRPr lang="zh-CN" altLang="en-US" sz="850">
              <a:solidFill>
                <a:srgbClr val="525A66"/>
              </a:solidFill>
              <a:latin typeface="Arial" panose="020B0604020202020204" pitchFamily="34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52500" y="6273800"/>
            <a:ext cx="2159000" cy="279400"/>
          </a:xfrm>
          <a:prstGeom prst="rect">
            <a:avLst/>
          </a:prstGeom>
          <a:solidFill>
            <a:srgbClr val="EEF0F3"/>
          </a:solidFill>
          <a:ln w="9525">
            <a:solidFill>
              <a:srgbClr val="D3D7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zh-CN" sz="850">
                <a:solidFill>
                  <a:srgbClr val="525A66"/>
                </a:solidFill>
                <a:latin typeface="Arial" panose="020B0604020202020204" pitchFamily="34" charset="0"/>
              </a:rPr>
              <a:t>No explicit persistent video state</a:t>
            </a:r>
            <a:endParaRPr lang="zh-CN" altLang="en-US" sz="850">
              <a:solidFill>
                <a:srgbClr val="525A66"/>
              </a:solidFill>
              <a:latin typeface="Arial" panose="020B0604020202020204" pitchFamily="34" charset="0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7239000" y="1651000"/>
            <a:ext cx="254000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zh-CN" sz="1150">
                <a:solidFill>
                  <a:srgbClr val="14181D"/>
                </a:solidFill>
                <a:latin typeface="Arial" panose="020B0604020202020204" pitchFamily="34" charset="0"/>
              </a:rPr>
              <a:t>Causal Surgical Stream</a:t>
            </a:r>
            <a:endParaRPr lang="zh-CN" altLang="en-US" sz="1150">
              <a:solidFill>
                <a:srgbClr val="14181D"/>
              </a:solidFill>
              <a:latin typeface="Arial" panose="020B0604020202020204" pitchFamily="34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7239000" y="2413000"/>
            <a:ext cx="2540000" cy="508000"/>
          </a:xfrm>
          <a:prstGeom prst="roundRect">
            <a:avLst/>
          </a:prstGeom>
          <a:solidFill>
            <a:srgbClr val="E7F3FE"/>
          </a:solidFill>
          <a:ln w="15875">
            <a:solidFill>
              <a:srgbClr val="5D9F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zh-CN" sz="1150" b="1">
                <a:solidFill>
                  <a:srgbClr val="14181D"/>
                </a:solidFill>
                <a:latin typeface="Arial" panose="020B0604020202020204" pitchFamily="34" charset="0"/>
              </a:rPr>
              <a:t>Joint Perception Agent</a:t>
            </a:r>
            <a:endParaRPr lang="zh-CN" altLang="en-US" sz="1150" b="1">
              <a:solidFill>
                <a:srgbClr val="14181D"/>
              </a:solidFill>
              <a:latin typeface="Arial" panose="020B0604020202020204" pitchFamily="34" charset="0"/>
            </a:endParaRPr>
          </a:p>
        </p:txBody>
      </p:sp>
      <p:sp>
        <p:nvSpPr>
          <p:cNvPr id="33" name="菱形 32"/>
          <p:cNvSpPr/>
          <p:nvPr/>
        </p:nvSpPr>
        <p:spPr>
          <a:xfrm>
            <a:off x="7429500" y="3175000"/>
            <a:ext cx="2159000" cy="762000"/>
          </a:xfrm>
          <a:prstGeom prst="diamond">
            <a:avLst/>
          </a:prstGeom>
          <a:solidFill>
            <a:srgbClr val="CFE8FC"/>
          </a:solidFill>
          <a:ln w="17145">
            <a:solidFill>
              <a:srgbClr val="3D8D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zh-CN" sz="1150" b="1">
                <a:solidFill>
                  <a:srgbClr val="14181D"/>
                </a:solidFill>
                <a:latin typeface="Arial" panose="020B0604020202020204" pitchFamily="34" charset="0"/>
              </a:rPr>
              <a:t>Task-wise Benefit Gate</a:t>
            </a:r>
            <a:endParaRPr lang="zh-CN" altLang="en-US" sz="1150" b="1">
              <a:solidFill>
                <a:srgbClr val="14181D"/>
              </a:solidFill>
              <a:latin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261100" y="4135318"/>
            <a:ext cx="965200" cy="197490"/>
          </a:xfrm>
          <a:prstGeom prst="rect">
            <a:avLst/>
          </a:prstGeom>
          <a:solidFill>
            <a:srgbClr val="FFFFFF"/>
          </a:solidFill>
        </p:spPr>
        <p:txBody>
          <a:bodyPr vert="horz" lIns="38100" tIns="25400" rIns="38100" bIns="25400" rtlCol="0" anchor="ctr">
            <a:spAutoFit/>
          </a:bodyPr>
          <a:lstStyle/>
          <a:p>
            <a:pPr algn="ctr"/>
            <a:r>
              <a:rPr lang="en-US" altLang="zh-CN" sz="950" b="1">
                <a:solidFill>
                  <a:srgbClr val="2A76AA"/>
                </a:solidFill>
                <a:latin typeface="Arial" panose="020B0604020202020204" pitchFamily="34" charset="0"/>
              </a:rPr>
              <a:t>ACCEPT</a:t>
            </a:r>
            <a:endParaRPr lang="zh-CN" altLang="en-US" sz="950" b="1">
              <a:solidFill>
                <a:srgbClr val="2A76AA"/>
              </a:solidFill>
              <a:latin typeface="Arial" panose="020B0604020202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601200" y="3754318"/>
            <a:ext cx="1422400" cy="197490"/>
          </a:xfrm>
          <a:prstGeom prst="rect">
            <a:avLst/>
          </a:prstGeom>
          <a:solidFill>
            <a:srgbClr val="FFFFFF"/>
          </a:solidFill>
        </p:spPr>
        <p:txBody>
          <a:bodyPr vert="horz" lIns="38100" tIns="25400" rIns="38100" bIns="25400" rtlCol="0" anchor="ctr">
            <a:spAutoFit/>
          </a:bodyPr>
          <a:lstStyle/>
          <a:p>
            <a:pPr algn="ctr"/>
            <a:r>
              <a:rPr lang="en-US" altLang="zh-CN" sz="950" b="1">
                <a:solidFill>
                  <a:srgbClr val="2780C1"/>
                </a:solidFill>
                <a:latin typeface="Arial" panose="020B0604020202020204" pitchFamily="34" charset="0"/>
              </a:rPr>
              <a:t>VERIFY(scope)</a:t>
            </a:r>
            <a:endParaRPr lang="zh-CN" altLang="en-US" sz="950" b="1">
              <a:solidFill>
                <a:srgbClr val="2780C1"/>
              </a:solidFill>
              <a:latin typeface="Arial" panose="020B0604020202020204" pitchFamily="34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9779000" y="4000500"/>
            <a:ext cx="2286000" cy="571500"/>
          </a:xfrm>
          <a:prstGeom prst="roundRect">
            <a:avLst/>
          </a:prstGeom>
          <a:solidFill>
            <a:srgbClr val="DDF0FD"/>
          </a:solidFill>
          <a:ln w="15875">
            <a:solidFill>
              <a:srgbClr val="4A9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zh-CN" sz="950" b="1">
                <a:solidFill>
                  <a:srgbClr val="14181D"/>
                </a:solidFill>
                <a:latin typeface="Arial" panose="020B0604020202020204" pitchFamily="34" charset="0"/>
              </a:rPr>
              <a:t>One Routed Specialist</a:t>
            </a:r>
            <a:endParaRPr lang="en-US" altLang="zh-CN" sz="950" b="1">
              <a:solidFill>
                <a:srgbClr val="14181D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sz="950" b="1">
                <a:solidFill>
                  <a:srgbClr val="14181D"/>
                </a:solidFill>
                <a:latin typeface="Arial" panose="020B0604020202020204" pitchFamily="34" charset="0"/>
              </a:rPr>
              <a:t>spatial_track | interaction | workflow</a:t>
            </a:r>
            <a:endParaRPr lang="zh-CN" altLang="en-US" sz="950" b="1">
              <a:solidFill>
                <a:srgbClr val="14181D"/>
              </a:solidFill>
              <a:latin typeface="Arial" panose="020B0604020202020204" pitchFamily="34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9779000" y="4826000"/>
            <a:ext cx="2286000" cy="571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AA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zh-CN" sz="950" b="1">
                <a:solidFill>
                  <a:srgbClr val="14181D"/>
                </a:solidFill>
                <a:latin typeface="Arial" panose="020B0604020202020204" pitchFamily="34" charset="0"/>
              </a:rPr>
              <a:t>Deterministic Coordinator</a:t>
            </a:r>
            <a:endParaRPr lang="en-US" altLang="zh-CN" sz="950" b="1">
              <a:solidFill>
                <a:srgbClr val="14181D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sz="950" b="1">
                <a:solidFill>
                  <a:srgbClr val="14181D"/>
                </a:solidFill>
                <a:latin typeface="Arial" panose="020B0604020202020204" pitchFamily="34" charset="0"/>
              </a:rPr>
              <a:t>scope | candidate | touched-task checks</a:t>
            </a:r>
            <a:endParaRPr lang="zh-CN" altLang="en-US" sz="950" b="1">
              <a:solidFill>
                <a:srgbClr val="14181D"/>
              </a:solidFill>
              <a:latin typeface="Arial" panose="020B0604020202020204" pitchFamily="34" charset="0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7239000" y="5461000"/>
            <a:ext cx="2540000" cy="533400"/>
          </a:xfrm>
          <a:prstGeom prst="roundRect">
            <a:avLst/>
          </a:prstGeom>
          <a:solidFill>
            <a:srgbClr val="BDE2FA"/>
          </a:solidFill>
          <a:ln w="15875">
            <a:solidFill>
              <a:srgbClr val="3183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zh-CN" sz="1150" b="1">
                <a:solidFill>
                  <a:srgbClr val="14181D"/>
                </a:solidFill>
                <a:latin typeface="Arial" panose="020B0604020202020204" pitchFamily="34" charset="0"/>
              </a:rPr>
              <a:t>Finalized Event</a:t>
            </a:r>
            <a:endParaRPr lang="zh-CN" altLang="en-US" sz="1150" b="1">
              <a:solidFill>
                <a:srgbClr val="14181D"/>
              </a:solidFill>
              <a:latin typeface="Arial" panose="020B0604020202020204" pitchFamily="34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6858000" y="6159500"/>
            <a:ext cx="3302000" cy="482600"/>
          </a:xfrm>
          <a:prstGeom prst="roundRect">
            <a:avLst/>
          </a:prstGeom>
          <a:solidFill>
            <a:srgbClr val="EAF6FE"/>
          </a:solidFill>
          <a:ln w="15875">
            <a:solidFill>
              <a:srgbClr val="61A4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zh-CN" sz="950" b="1">
                <a:solidFill>
                  <a:srgbClr val="14181D"/>
                </a:solidFill>
                <a:latin typeface="Arial" panose="020B0604020202020204" pitchFamily="34" charset="0"/>
              </a:rPr>
              <a:t>Workflow State + Event Memory</a:t>
            </a:r>
            <a:endParaRPr lang="en-US" altLang="zh-CN" sz="950" b="1">
              <a:solidFill>
                <a:srgbClr val="14181D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sz="950" b="1">
                <a:solidFill>
                  <a:srgbClr val="14181D"/>
                </a:solidFill>
                <a:latin typeface="Arial" panose="020B0604020202020204" pitchFamily="34" charset="0"/>
              </a:rPr>
              <a:t>finalized causal history only</a:t>
            </a:r>
            <a:endParaRPr lang="zh-CN" altLang="en-US" sz="950" b="1">
              <a:solidFill>
                <a:srgbClr val="14181D"/>
              </a:solidFill>
              <a:latin typeface="Arial" panose="020B0604020202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740400" y="3506839"/>
            <a:ext cx="1371600" cy="204470"/>
          </a:xfrm>
          <a:prstGeom prst="rect">
            <a:avLst/>
          </a:prstGeom>
          <a:solidFill>
            <a:srgbClr val="FFFFFF"/>
          </a:solidFill>
        </p:spPr>
        <p:txBody>
          <a:bodyPr vert="horz" lIns="38100" tIns="25400" rIns="38100" bIns="25400" rtlCol="0" anchor="ctr">
            <a:spAutoFit/>
          </a:bodyPr>
          <a:lstStyle/>
          <a:p>
            <a:pPr algn="ctr"/>
            <a:r>
              <a:rPr lang="en-US" altLang="zh-CN" sz="1000">
                <a:solidFill>
                  <a:srgbClr val="527D9B"/>
                </a:solidFill>
                <a:latin typeface="Arial" panose="020B0604020202020204" pitchFamily="34" charset="0"/>
              </a:rPr>
              <a:t>causal context for t+1</a:t>
            </a:r>
            <a:endParaRPr lang="zh-CN" altLang="en-US" sz="1000">
              <a:solidFill>
                <a:srgbClr val="527D9B"/>
              </a:solidFill>
              <a:latin typeface="Arial" panose="020B0604020202020204" pitchFamily="3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0414000" y="5676900"/>
            <a:ext cx="1625600" cy="254000"/>
          </a:xfrm>
          <a:prstGeom prst="rect">
            <a:avLst/>
          </a:prstGeom>
          <a:solidFill>
            <a:srgbClr val="E4F3FD"/>
          </a:solidFill>
          <a:ln w="8890">
            <a:solidFill>
              <a:srgbClr val="B9DD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zh-CN" sz="750" b="1">
                <a:solidFill>
                  <a:srgbClr val="155F91"/>
                </a:solidFill>
                <a:latin typeface="Arial" panose="020B0604020202020204" pitchFamily="34" charset="0"/>
              </a:rPr>
              <a:t>Causal long-horizon state</a:t>
            </a:r>
            <a:endParaRPr lang="zh-CN" altLang="en-US" sz="750" b="1">
              <a:solidFill>
                <a:srgbClr val="155F91"/>
              </a:solidFill>
              <a:latin typeface="Arial" panose="020B0604020202020204" pitchFamily="34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0414000" y="5930900"/>
            <a:ext cx="1625600" cy="254000"/>
          </a:xfrm>
          <a:prstGeom prst="rect">
            <a:avLst/>
          </a:prstGeom>
          <a:solidFill>
            <a:srgbClr val="E4F3FD"/>
          </a:solidFill>
          <a:ln w="8890">
            <a:solidFill>
              <a:srgbClr val="B9DD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zh-CN" sz="750" b="1">
                <a:solidFill>
                  <a:srgbClr val="155F91"/>
                </a:solidFill>
                <a:latin typeface="Arial" panose="020B0604020202020204" pitchFamily="34" charset="0"/>
              </a:rPr>
              <a:t>Benefit-routed verification</a:t>
            </a:r>
            <a:endParaRPr lang="zh-CN" altLang="en-US" sz="750" b="1">
              <a:solidFill>
                <a:srgbClr val="155F91"/>
              </a:solidFill>
              <a:latin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0414000" y="6184900"/>
            <a:ext cx="1625600" cy="254000"/>
          </a:xfrm>
          <a:prstGeom prst="rect">
            <a:avLst/>
          </a:prstGeom>
          <a:solidFill>
            <a:srgbClr val="E4F3FD"/>
          </a:solidFill>
          <a:ln w="8890">
            <a:solidFill>
              <a:srgbClr val="B9DD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zh-CN" sz="750" b="1">
                <a:solidFill>
                  <a:srgbClr val="155F91"/>
                </a:solidFill>
                <a:latin typeface="Arial" panose="020B0604020202020204" pitchFamily="34" charset="0"/>
              </a:rPr>
              <a:t>Task-scoped safe repair</a:t>
            </a:r>
            <a:endParaRPr lang="zh-CN" altLang="en-US" sz="750" b="1">
              <a:solidFill>
                <a:srgbClr val="155F91"/>
              </a:solidFill>
              <a:latin typeface="Arial" panose="020B0604020202020204" pitchFamily="34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0414000" y="6438900"/>
            <a:ext cx="1625600" cy="254000"/>
          </a:xfrm>
          <a:prstGeom prst="rect">
            <a:avLst/>
          </a:prstGeom>
          <a:solidFill>
            <a:srgbClr val="E4F3FD"/>
          </a:solidFill>
          <a:ln w="8890">
            <a:solidFill>
              <a:srgbClr val="B9DD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zh-CN" sz="750" b="1">
                <a:solidFill>
                  <a:srgbClr val="155F91"/>
                </a:solidFill>
                <a:latin typeface="Arial" panose="020B0604020202020204" pitchFamily="34" charset="0"/>
              </a:rPr>
              <a:t>Budget-aware API calls</a:t>
            </a:r>
            <a:endParaRPr lang="zh-CN" altLang="en-US" sz="750" b="1">
              <a:solidFill>
                <a:srgbClr val="155F9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729</Words>
  <Application>WPS 演示</Application>
  <PresentationFormat>自定义</PresentationFormat>
  <Paragraphs>57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u3651281@connect.hku.hk</dc:creator>
  <cp:lastModifiedBy>LTH...</cp:lastModifiedBy>
  <cp:revision>2</cp:revision>
  <dcterms:created xsi:type="dcterms:W3CDTF">2026-08-23T15:28:00Z</dcterms:created>
  <dcterms:modified xsi:type="dcterms:W3CDTF">2026-08-23T15:47:59Z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A666A48285624F75A7325A2093AFFF2B_12</vt:lpwstr>
  </property>
  <property fmtid="{D5CDD505-2E9C-101B-9397-08002B2CF9AE}" pid="3" name="KSOProductBuildVer">
    <vt:lpwstr>2052-12.1.0.28043</vt:lpwstr>
  </property>
</Properties>
</file>